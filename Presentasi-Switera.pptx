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720000">
            <a:off x="7955279" y="-1097280"/>
            <a:ext cx="5486400" cy="5486400"/>
          </a:xfrm>
          <a:prstGeom prst="roundRect">
            <a:avLst>
              <a:gd name="adj" fmla="val 8000"/>
            </a:avLst>
          </a:prstGeom>
          <a:solidFill>
            <a:srgbClr val="BCF819"/>
          </a:solidFill>
          <a:ln w="381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420000">
            <a:off x="731520" y="96012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F2FED1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300" b="1">
                <a:solidFill>
                  <a:srgbClr val="111111"/>
                </a:solidFill>
                <a:latin typeface="DM Sans"/>
              </a:rPr>
              <a:t>PROYEK SEKOLAH ·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822960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800" b="1">
                <a:solidFill>
                  <a:srgbClr val="111111"/>
                </a:solidFill>
                <a:latin typeface="Bricolage Grotesque"/>
              </a:rPr>
              <a:t>Switera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C6700"/>
                </a:solidFill>
                <a:latin typeface="Bricolage Grotesque"/>
              </a:rPr>
              <a:t>Sistem Informasi Manajemen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4C6700"/>
                </a:solidFill>
                <a:latin typeface="Bricolage Grotesque"/>
              </a:rPr>
              <a:t>Distribusi TBS Kelapa Sawit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1772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754880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434934"/>
                </a:solidFill>
                <a:latin typeface="DM Sans"/>
              </a:rPr>
              <a:t>Aplikasi web multi-pengguna untuk mengelola distribusi stok TBS (Tandan Buah Segar) antar kota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34934"/>
                </a:solidFill>
                <a:latin typeface="DM Sans"/>
              </a:rPr>
              <a:t>dari permintaan, keputusan berbasis peringkat, pelacakan status, sampai pelaporan dan riwayat aktivitas.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167128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Masalah yang Diselesaikan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5420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96896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42032"/>
            <a:ext cx="397764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11111"/>
                </a:solidFill>
                <a:latin typeface="Bricolage Grotesque"/>
              </a:rPr>
              <a:t>Distribusi manual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Alokasi stok TBS antar kota masih dicatat manual, rawan salah dan tidak konsisten.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54203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596896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542032"/>
            <a:ext cx="397764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11111"/>
                </a:solidFill>
                <a:latin typeface="Bricolage Grotesque"/>
              </a:rPr>
              <a:t>Sulit menetapkan prioritas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Tanpa dasar objektif, sulit menentukan kota mana yang harus dilayani lebih dulu.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64515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00016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645152"/>
            <a:ext cx="397764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11111"/>
                </a:solidFill>
                <a:latin typeface="Bricolage Grotesque"/>
              </a:rPr>
              <a:t>Minim pantauan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Manajer sulit melihat kondisi stok, pengiriman berjalan, dan kinerja secara menyeluruh.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38912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4645152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700016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645152"/>
            <a:ext cx="397764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11111"/>
                </a:solidFill>
                <a:latin typeface="Bricolage Grotesque"/>
              </a:rPr>
              <a:t>Keputusan tanpa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Keputusan diambil tanpa dukungan informasi yang terolah menjadi indikator.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335024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SEKILAS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Apa Itu Switera?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434934"/>
                </a:solidFill>
                <a:latin typeface="DM Sans"/>
              </a:rPr>
              <a:t>Switera adalah aplikasi web untuk mengelola distribusi stok TBS (Tandan Buah Segar kelapa sawit)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34934"/>
                </a:solidFill>
                <a:latin typeface="DM Sans"/>
              </a:rPr>
              <a:t>antar kota secara terpusat — menyatukan permintaan, keputusan, pengiriman, dan pelaporan dalam satu sistem.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32918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46704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46120"/>
            <a:ext cx="39776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11111"/>
                </a:solidFill>
                <a:latin typeface="Bricolage Grotesque"/>
              </a:rPr>
              <a:t>Multi-Pengguna &amp; Berperan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Tiga peran (Admin, Manajer Distribusi, Tim Logistik) bekerja bersamaan dengan hak akses masing-masing.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06324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32918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346704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246120"/>
            <a:ext cx="39776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11111"/>
                </a:solidFill>
                <a:latin typeface="Bricolage Grotesque"/>
              </a:rPr>
              <a:t>Alur Kerja End-to-End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Satu rangkaian utuh: permintaan → analisis peringkat → keputusan → pengiriman → laporan &amp; evaluasi.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507492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29784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29200"/>
            <a:ext cx="39776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11111"/>
                </a:solidFill>
                <a:latin typeface="Bricolage Grotesque"/>
              </a:rPr>
              <a:t>Berbasis Informasi (MIS)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Data mentah diolah menjadi indikator, tren, rekomendasi, dan peringatan — untuk mendukung keputusan.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84632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507492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129784"/>
            <a:ext cx="640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Bricolage Grotesq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029200"/>
            <a:ext cx="39776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111111"/>
                </a:solidFill>
                <a:latin typeface="Bricolage Grotesque"/>
              </a:rPr>
              <a:t>Data Nyata &amp; Tersinkron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Semua tersimpan permanen di database; perubahan satu pengguna langsung tercermin bagi yang lain.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453896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Siapa yang Diuntungkan Aplikasi?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34934"/>
                </a:solidFill>
                <a:latin typeface="DM Sans"/>
              </a:rPr>
              <a:t>Setiap peran memperoleh manfaat nyata dari informasi yang diolah Switera — bukan sekadar mencatat.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502152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880360"/>
            <a:ext cx="3044952" cy="8686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3044952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50" b="1">
                <a:solidFill>
                  <a:srgbClr val="111111"/>
                </a:solidFill>
                <a:latin typeface="Bricolage Grotesque"/>
              </a:rPr>
              <a:t>Admin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34934"/>
                </a:solidFill>
                <a:latin typeface="DM Sans"/>
              </a:rPr>
              <a:t>Pengelola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931920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Data kota, akun &amp; permintaan terpusat rapi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462272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Impor massal cepat lewat berkas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992624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Konteks kota &amp; deteksi anomali saat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522976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Jejak audit otomatis tiap perubahan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2651760"/>
            <a:ext cx="3502152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36592" y="2880360"/>
            <a:ext cx="3044952" cy="868680"/>
          </a:xfrm>
          <a:prstGeom prst="roundRect">
            <a:avLst>
              <a:gd name="adj" fmla="val 6000"/>
            </a:avLst>
          </a:prstGeom>
          <a:solidFill>
            <a:srgbClr val="F2FED1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2926080"/>
            <a:ext cx="3044952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50" b="1">
                <a:solidFill>
                  <a:srgbClr val="111111"/>
                </a:solidFill>
                <a:latin typeface="Bricolage Grotesque"/>
              </a:rPr>
              <a:t>Manajer Distribusi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34934"/>
                </a:solidFill>
                <a:latin typeface="DM Sans"/>
              </a:rPr>
              <a:t>Pengambil keputusan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931920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Keputusan didukung data &amp; rekomendasi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462272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Kinerja terukur terhadap target sendiri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992624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Peringatan dini stok kritis &amp; eskalasi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522976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Tren &amp; laporan untuk bahan evaluasi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2651760"/>
            <a:ext cx="3502152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13064" y="2880360"/>
            <a:ext cx="3044952" cy="86868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2926080"/>
            <a:ext cx="3044952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50" b="1">
                <a:solidFill>
                  <a:srgbClr val="111111"/>
                </a:solidFill>
                <a:latin typeface="Bricolage Grotesque"/>
              </a:rPr>
              <a:t>Tim Logistik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34934"/>
                </a:solidFill>
                <a:latin typeface="DM Sans"/>
              </a:rPr>
              <a:t>Pelaksana lapangan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931920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Prioritas kerja harian yang jelas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4462272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Status pengiriman selalu terlacak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4992624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Armada &amp; estimasi tiba terkelola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5522976"/>
            <a:ext cx="2971800" cy="5303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✓  Sorotan otomatis pengiriman terlambat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ARSITEKTUR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Dua Proses: Frontend &amp;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2004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5603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DM Sans"/>
              </a:rPr>
              <a:t>React 18 + Vite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75304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Chart.js (grafik)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95928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Leaflet (peta)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16552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Design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37176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Neo-Brutalism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257800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Cache + REST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657600"/>
            <a:ext cx="914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C6700"/>
                </a:solidFill>
                <a:latin typeface="DM Sans"/>
              </a:rPr>
              <a:t>REST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DM Sans"/>
              </a:rPr>
              <a:t>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331720"/>
            <a:ext cx="3200400" cy="3383280"/>
          </a:xfrm>
          <a:prstGeom prst="roundRect">
            <a:avLst>
              <a:gd name="adj" fmla="val 6000"/>
            </a:avLst>
          </a:prstGeom>
          <a:solidFill>
            <a:srgbClr val="F2FED1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6360" y="25603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154680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DM Sans"/>
              </a:rPr>
              <a:t>Express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575304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Prisma 6 (ORM)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995928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JWT + bcrypt (auth)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416552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Zod (validasi)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4837176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RBAC middleware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5257800"/>
            <a:ext cx="274320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34934"/>
                </a:solidFill>
                <a:latin typeface="DM Sans"/>
              </a:rPr>
              <a:t>Layanan MIS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657600"/>
            <a:ext cx="914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4C6700"/>
                </a:solidFill>
                <a:latin typeface="DM Sans"/>
              </a:rPr>
              <a:t>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DM Sans"/>
              </a:rPr>
              <a:t>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331720"/>
            <a:ext cx="22860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25603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154680"/>
            <a:ext cx="192024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1111"/>
                </a:solidFill>
                <a:latin typeface="DM Sans"/>
              </a:rPr>
              <a:t>PostgreSQL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575304"/>
            <a:ext cx="192024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Sumber kebenaran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995928"/>
            <a:ext cx="192024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Docker (lokal)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16552"/>
            <a:ext cx="192024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Migrasi Prisma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837176"/>
            <a:ext cx="192024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Seed data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810512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FITUR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Lapisan MIS untuk Pengambilan Keputusan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31720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Situasi Hari Ini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Ringkasan stok, permintaan menunggu, dan status pasokan.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194560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31720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Tindakan Mendesak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Deteksi otomatis stok kritis, kota terbengkalai, anomali.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4" y="2194560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2331720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Kinerja vs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Realisasi indikator dibanding target yang ditetapkan manajer.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85032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22192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Tren Kinerja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Rekam indikator harian → grafik apakah kinerja membaik.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685032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822192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Proyeksi Stok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Perkiraan kapan stok habis berdasarkan laju permintaan.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3685032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3822192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Peramalan Permintaan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Estimasi kebutuhan periode berikutnya per kota.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75504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312664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Analisis Pareto (ABC)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Klasifikasi kota kelas A/B/C untuk fokus alokasi.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5175504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5312664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Perbandingan Periode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Varians metrik kunci antar-periode dengan delta.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4" y="5175504"/>
            <a:ext cx="3502152" cy="123444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2540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5312664"/>
            <a:ext cx="3136392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11111"/>
                </a:solidFill>
                <a:latin typeface="Bricolage Grotesque"/>
              </a:rPr>
              <a:t>Rekomendasi Distribusi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434934"/>
                </a:solidFill>
                <a:latin typeface="DM Sans"/>
              </a:rPr>
              <a:t>Skor gabungan permintaan + kapasitas untuk prioritas.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453896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UNGGULAN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Siklus Manajemen Berbasis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34934"/>
                </a:solidFill>
                <a:latin typeface="DM Sans"/>
              </a:rPr>
              <a:t>Ciri MIS sejati: kinerja tidak berdiri sendiri, tapi dinilai terhadap target yang ditetapkan manajemen.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2587752" cy="3108960"/>
          </a:xfrm>
          <a:prstGeom prst="roundRect">
            <a:avLst>
              <a:gd name="adj" fmla="val 6000"/>
            </a:avLst>
          </a:prstGeom>
          <a:solidFill>
            <a:srgbClr val="F2FED1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3017520"/>
            <a:ext cx="777240" cy="777240"/>
          </a:xfrm>
          <a:prstGeom prst="ellipse">
            <a:avLst/>
          </a:prstGeom>
          <a:solidFill>
            <a:srgbClr val="BCF819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90672"/>
            <a:ext cx="777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977639"/>
            <a:ext cx="208483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1111"/>
                </a:solidFill>
                <a:latin typeface="Bricolage Grotesque"/>
              </a:rPr>
              <a:t>Tetapkan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Manajer menetapkan target pemenuhan, waktu kirim, utilisasi, ambang stok &amp; eskalasi.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402336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C670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2788920"/>
            <a:ext cx="258775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2192" y="3017520"/>
            <a:ext cx="777240" cy="777240"/>
          </a:xfrm>
          <a:prstGeom prst="ellipse">
            <a:avLst/>
          </a:prstGeom>
          <a:solidFill>
            <a:srgbClr val="BCF819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3090672"/>
            <a:ext cx="777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Bricolage Grotesq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3977639"/>
            <a:ext cx="208483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1111"/>
                </a:solidFill>
                <a:latin typeface="Bricolage Grotesque"/>
              </a:rPr>
              <a:t>Sistem Menilai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Realisasi dibandingkan target → status Tercapai / Meleset per indikator.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402336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C6700"/>
                </a:solidFill>
                <a:latin typeface="DM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2788920"/>
            <a:ext cx="2587752" cy="3108960"/>
          </a:xfrm>
          <a:prstGeom prst="roundRect">
            <a:avLst>
              <a:gd name="adj" fmla="val 6000"/>
            </a:avLst>
          </a:prstGeom>
          <a:solidFill>
            <a:srgbClr val="F2FED1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84264" y="3017520"/>
            <a:ext cx="777240" cy="777240"/>
          </a:xfrm>
          <a:prstGeom prst="ellipse">
            <a:avLst/>
          </a:prstGeom>
          <a:solidFill>
            <a:srgbClr val="BCF819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3090672"/>
            <a:ext cx="777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977639"/>
            <a:ext cx="208483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1111"/>
                </a:solidFill>
                <a:latin typeface="Bricolage Grotesque"/>
              </a:rPr>
              <a:t>Rekam &amp; Pantau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Indikator disimpan harian, ditampilkan sebagai grafik tren lintas waktu.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402336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C6700"/>
                </a:solidFill>
                <a:latin typeface="DM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7736" y="2788920"/>
            <a:ext cx="2587752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46336" y="3017520"/>
            <a:ext cx="777240" cy="777240"/>
          </a:xfrm>
          <a:prstGeom prst="ellipse">
            <a:avLst/>
          </a:prstGeom>
          <a:solidFill>
            <a:srgbClr val="BCF819"/>
          </a:solidFill>
          <a:ln w="317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336" y="3090672"/>
            <a:ext cx="777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3977639"/>
            <a:ext cx="208483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11111"/>
                </a:solidFill>
                <a:latin typeface="Bricolage Grotesque"/>
              </a:rPr>
              <a:t>Peringatan Otomatis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34934"/>
                </a:solidFill>
                <a:latin typeface="DM Sans"/>
              </a:rPr>
              <a:t>Notifikasi cerdas muncul saat target meleset — menutup loop keputusan.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AI TERINTEGRASI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Tiga Asisten Cerdas (Gemini)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34934"/>
                </a:solidFill>
                <a:latin typeface="DM Sans"/>
              </a:rPr>
              <a:t>AI menarasikan angka yang sudah dihitung sistem — selalu konsisten dengan data, tidak mengarang.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971800"/>
            <a:ext cx="1280160" cy="54864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26664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Bricolage Grotesque"/>
              </a:rPr>
              <a:t>AI-1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749039"/>
            <a:ext cx="299923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11111"/>
                </a:solidFill>
                <a:latin typeface="Bricolage Grotesque"/>
              </a:rPr>
              <a:t>Ringkasan Laporan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Merangkum laporan distribusi periode terpilih menjadi narasi eksekutif.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74320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EAFCC2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36592" y="2971800"/>
            <a:ext cx="1280160" cy="54864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3026664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Bricolage Grotesque"/>
              </a:rPr>
              <a:t>AI-2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749039"/>
            <a:ext cx="299923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11111"/>
                </a:solidFill>
                <a:latin typeface="Bricolage Grotesque"/>
              </a:rPr>
              <a:t>Rekomendasi Keputusan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Menjelaskan rekomendasi alokasi untuk kota prioritas secara naratif.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274320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13064" y="2971800"/>
            <a:ext cx="1280160" cy="54864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3026664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Bricolage Grotesque"/>
              </a:rPr>
              <a:t>AI-3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749039"/>
            <a:ext cx="299923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11111"/>
                </a:solidFill>
                <a:latin typeface="Bricolage Grotesque"/>
              </a:rPr>
              <a:t>Briefing Harian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Rangkuman kondisi pagi hari: situasi, tindakan mendesak, prioritas aksi.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607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C6700"/>
                </a:solidFill>
                <a:latin typeface="DM Sans"/>
              </a:rPr>
              <a:t>Menggunakan Gemini API tier gratis — sesuai konteks proyek sekolah.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453896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KUALITAS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Keandalan, Keamanan &amp; Multi-Pengguna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502152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514600"/>
            <a:ext cx="3044952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304495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Bricolage Grotesque"/>
              </a:rPr>
              <a:t>Keamanan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Login JWT + kata sandi bcrypt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04488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RBAC ditegakkan di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71416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Validasi Zod tiap permintaan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38344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CORS dikunci ke origin dev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2286000"/>
            <a:ext cx="3502152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36592" y="2514600"/>
            <a:ext cx="3044952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578608"/>
            <a:ext cx="304495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Bricolage Grotesque"/>
              </a:rPr>
              <a:t>Multi-Pengguna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337560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Beberapa peran login bersamaan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04488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Sinkronisasi tiap 4 detik (polling)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4471416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Konsistensi via optimistic 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5038344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Konflik keputusan ditangani (409)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4" y="2286000"/>
            <a:ext cx="3502152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13064" y="2514600"/>
            <a:ext cx="3044952" cy="640080"/>
          </a:xfrm>
          <a:prstGeom prst="roundRect">
            <a:avLst>
              <a:gd name="adj" fmla="val 6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2578608"/>
            <a:ext cx="304495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Bricolage Grotesque"/>
              </a:rPr>
              <a:t>Integritas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4504" y="3337560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PostgreSQL sumber kebenaran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3904488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Riwayat keputusan permanen (audit)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4504" y="4471416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Log aktivitas tiap perubahan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4" y="5038344"/>
            <a:ext cx="295351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34934"/>
                </a:solidFill>
                <a:latin typeface="DM Sans"/>
              </a:rPr>
              <a:t>•  Notifikasi cerdas + dedupe 24 jam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691640" cy="438912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200" b="1">
                <a:solidFill>
                  <a:srgbClr val="111111"/>
                </a:solidFill>
                <a:latin typeface="DM Sans"/>
              </a:rPr>
              <a:t>ALUR KERJA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Bricolage Grotesque"/>
              </a:rPr>
              <a:t>Dari Permintaan ke Keputusan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2011680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3017520"/>
            <a:ext cx="2084831" cy="2286000"/>
          </a:xfrm>
          <a:prstGeom prst="roundRect">
            <a:avLst>
              <a:gd name="adj" fmla="val 6000"/>
            </a:avLst>
          </a:prstGeom>
          <a:solidFill>
            <a:srgbClr val="F2FED1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050" b="1">
                <a:solidFill>
                  <a:srgbClr val="111111"/>
                </a:solidFill>
                <a:latin typeface="DM Sans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730752"/>
            <a:ext cx="168249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Bricolage Grotesque"/>
              </a:rPr>
              <a:t>Input Permintaan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34934"/>
                </a:solidFill>
                <a:latin typeface="DM Sans"/>
              </a:rPr>
              <a:t>Permintaan TBS per kota dicatat / diimpor.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903" y="384048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C6700"/>
                </a:solidFill>
                <a:latin typeface="DM San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1" y="3017520"/>
            <a:ext cx="2084831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9231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050" b="1">
                <a:solidFill>
                  <a:srgbClr val="111111"/>
                </a:solidFill>
                <a:latin typeface="DM Sans"/>
              </a:rPr>
              <a:t>Manajer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19" y="3730752"/>
            <a:ext cx="168249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Bricolage Grotesque"/>
              </a:rPr>
              <a:t>Analisis Peringkat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34934"/>
                </a:solidFill>
                <a:latin typeface="DM Sans"/>
              </a:rPr>
              <a:t>Sistem menyusun prioritas berbasis skor.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4" y="384048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C6700"/>
                </a:solidFill>
                <a:latin typeface="DM San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2" y="3017520"/>
            <a:ext cx="2084831" cy="2286000"/>
          </a:xfrm>
          <a:prstGeom prst="roundRect">
            <a:avLst>
              <a:gd name="adj" fmla="val 6000"/>
            </a:avLst>
          </a:prstGeom>
          <a:solidFill>
            <a:srgbClr val="F2FED1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21222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050" b="1">
                <a:solidFill>
                  <a:srgbClr val="111111"/>
                </a:solidFill>
                <a:latin typeface="DM Sans"/>
              </a:rPr>
              <a:t>Manajer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0" y="3730752"/>
            <a:ext cx="168249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Bricolage Grotesque"/>
              </a:rPr>
              <a:t>Keputusan Distribusi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34934"/>
                </a:solidFill>
                <a:latin typeface="DM Sans"/>
              </a:rPr>
              <a:t>Alokasi disetujui dengan dukungan 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5" y="384048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C6700"/>
                </a:solidFill>
                <a:latin typeface="DM San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3" y="3017520"/>
            <a:ext cx="2084831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43213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050" b="1">
                <a:solidFill>
                  <a:srgbClr val="111111"/>
                </a:solidFill>
                <a:latin typeface="DM Sans"/>
              </a:rPr>
              <a:t>Logistik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1" y="3730752"/>
            <a:ext cx="168249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Bricolage Grotesque"/>
              </a:rPr>
              <a:t>Pengiriman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34934"/>
                </a:solidFill>
                <a:latin typeface="DM Sans"/>
              </a:rPr>
              <a:t>Status &amp; armada diperbarui sampai selesai.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6" y="384048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C6700"/>
                </a:solidFill>
                <a:latin typeface="DM San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82324" y="3017520"/>
            <a:ext cx="2084831" cy="2286000"/>
          </a:xfrm>
          <a:prstGeom prst="roundRect">
            <a:avLst>
              <a:gd name="adj" fmla="val 6000"/>
            </a:avLst>
          </a:prstGeom>
          <a:solidFill>
            <a:srgbClr val="F2FED1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65204" y="32004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050" b="1">
                <a:solidFill>
                  <a:srgbClr val="111111"/>
                </a:solidFill>
                <a:latin typeface="DM Sans"/>
              </a:rPr>
              <a:t>Semua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2" y="3730752"/>
            <a:ext cx="168249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11111"/>
                </a:solidFill>
                <a:latin typeface="Bricolage Grotesque"/>
              </a:rPr>
              <a:t>Laporan &amp; Evaluasi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34934"/>
                </a:solidFill>
                <a:latin typeface="DM Sans"/>
              </a:rPr>
              <a:t>Kinerja dinilai vs target, tren dipantau.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34934"/>
                </a:solidFill>
                <a:latin typeface="DM Sans"/>
              </a:rPr>
              <a:t>SWITERA · Sistem Informasi Manajemen Distribusi TBS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000000">
            <a:off x="-1371600" y="4114800"/>
            <a:ext cx="6400800" cy="4572000"/>
          </a:xfrm>
          <a:prstGeom prst="roundRect">
            <a:avLst/>
          </a:prstGeom>
          <a:solidFill>
            <a:srgbClr val="BCF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BCF819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73152" rIns="73152"/>
          <a:lstStyle/>
          <a:p>
            <a:pPr algn="ctr"/>
            <a:r>
              <a:rPr sz="1300" b="1">
                <a:solidFill>
                  <a:srgbClr val="111111"/>
                </a:solidFill>
                <a:latin typeface="DM Sans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600" b="1">
                <a:solidFill>
                  <a:srgbClr val="FFFFFF"/>
                </a:solidFill>
                <a:latin typeface="Bricolage Grotesque"/>
              </a:rPr>
              <a:t>Switera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BCF819"/>
                </a:solidFill>
                <a:latin typeface="Bricolage Grotesque"/>
              </a:rPr>
              <a:t>Data menjadi informasi, informasi menjadi keputusan.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1069848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blurRad="0" dist="82296" dir="2700000" rotWithShape="0">
              <a:srgbClr val="11111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709160"/>
            <a:ext cx="102412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434934"/>
                </a:solidFill>
                <a:latin typeface="DM Sans"/>
              </a:rPr>
              <a:t>Aplikasi lengkap end-to-end untuk tiga peran — setiap halaman mengolah data menjadi informasi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34934"/>
                </a:solidFill>
                <a:latin typeface="DM Sans"/>
              </a:rPr>
              <a:t>keputusan, setiap tindakan tersimpan dan langsung tercermin. Siap didemokan pada kualitas produksi.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CF819"/>
                </a:solidFill>
                <a:latin typeface="DM Sans"/>
              </a:rPr>
              <a:t>Sesi tanya jawab dipersilakan.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640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34934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